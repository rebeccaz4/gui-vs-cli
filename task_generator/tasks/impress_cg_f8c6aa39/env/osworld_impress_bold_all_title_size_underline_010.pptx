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0" u="none"/>
              <a:t>Q2 2025 Executive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/>
              <a:t>Prepared by: Strategy &amp; Operations</a:t>
            </a:r>
          </a:p>
          <a:p>
            <a:r>
              <a:rPr sz="1800" b="0"/>
              <a:t>June 30,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/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1800" b="0"/>
              <a:t>Founded 2012 | Headquartered in San Francisco, CA</a:t>
            </a:r>
          </a:p>
          <a:p>
            <a:r>
              <a:rPr sz="1800" b="0"/>
              <a:t>1,240 full-time employees across 8 global offices</a:t>
            </a:r>
          </a:p>
          <a:p>
            <a:r>
              <a:rPr sz="1800" b="0"/>
              <a:t>Core verticals: SaaS, FinTech, Healthcare IT</a:t>
            </a:r>
          </a:p>
          <a:p>
            <a:r>
              <a:rPr sz="1800" b="0"/>
              <a:t>Revenue model: Annual Recurring Revenue (ARR) based</a:t>
            </a:r>
          </a:p>
          <a:p>
            <a:r>
              <a:rPr sz="1800" b="0"/>
              <a:t>Latest funding: Series D — $120M closed March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0"/>
              <a:t>Financial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1800" b="0"/>
              <a:t>ARR: $58.4M (+34% YoY)</a:t>
            </a:r>
          </a:p>
          <a:p>
            <a:r>
              <a:rPr sz="1800" b="0"/>
              <a:t>Gross Margin: 72% (up from 68% in Q2 2024)</a:t>
            </a:r>
          </a:p>
          <a:p>
            <a:r>
              <a:rPr sz="1800" b="0"/>
              <a:t>Net Revenue Retention: 118%</a:t>
            </a:r>
          </a:p>
          <a:p>
            <a:r>
              <a:rPr sz="1800" b="0"/>
              <a:t>New Bookings: $12.1M (Q2 2025)</a:t>
            </a:r>
          </a:p>
          <a:p>
            <a:r>
              <a:rPr sz="1800" b="0"/>
              <a:t>Churn Rate: 4.2% (all-time low)</a:t>
            </a:r>
          </a:p>
          <a:p>
            <a:r>
              <a:rPr sz="1800" b="0"/>
              <a:t>Operating Cash Flow: $3.8M positive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0"/>
              <a:t>Product Roadmap — H2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1800" b="0"/>
              <a:t>Q3: Launch AI-assisted reporting module (50 beta customers)</a:t>
            </a:r>
          </a:p>
          <a:p>
            <a:r>
              <a:rPr sz="1800" b="0"/>
              <a:t>Q3: Mobile app v3.0 — offline-first architecture</a:t>
            </a:r>
          </a:p>
          <a:p>
            <a:r>
              <a:rPr sz="1800" b="0"/>
              <a:t>Q4: Enterprise SSO &amp; SCIM provisioning</a:t>
            </a:r>
          </a:p>
          <a:p>
            <a:r>
              <a:rPr sz="1800" b="0"/>
              <a:t>Q4: Expanded API marketplace (30+ third-party integrations)</a:t>
            </a:r>
          </a:p>
          <a:p>
            <a:r>
              <a:rPr sz="1800" b="0"/>
              <a:t>Q4: ISO 27001 certification audit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0"/>
              <a:t>People &amp;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1800" b="0"/>
              <a:t>Headcount: +210 hires in H1 2025 (net +148)</a:t>
            </a:r>
          </a:p>
          <a:p>
            <a:r>
              <a:rPr sz="1800" b="0"/>
              <a:t>Engineering: 42% of total workforce</a:t>
            </a:r>
          </a:p>
          <a:p>
            <a:r>
              <a:rPr sz="1800" b="0"/>
              <a:t>Employee NPS: 72 (up 8 points from H2 2024)</a:t>
            </a:r>
          </a:p>
          <a:p>
            <a:r>
              <a:rPr sz="1800" b="0"/>
              <a:t>D&amp;I: 38% women in leadership roles</a:t>
            </a:r>
          </a:p>
          <a:p>
            <a:r>
              <a:rPr sz="1800" b="0"/>
              <a:t>Remote-first policy: 65% distributed globally</a:t>
            </a:r>
          </a:p>
          <a:p>
            <a:r>
              <a:rPr sz="1800" b="0"/>
              <a:t>Annual learning budget: $3,000 per employee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900" b="0"/>
              <a:t>Strategic Priorities for H2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1800" b="0"/>
              <a:t>1. Accelerate enterprise segment — target 25 new Fortune 500 accounts</a:t>
            </a:r>
          </a:p>
          <a:p>
            <a:r>
              <a:rPr sz="1800" b="0"/>
              <a:t>2. International expansion — APAC go-to-market launch (Singapore HQ)</a:t>
            </a:r>
          </a:p>
          <a:p>
            <a:r>
              <a:rPr sz="1800" b="0"/>
              <a:t>3. AI-native product evolution — LLM integration across all modules</a:t>
            </a:r>
          </a:p>
          <a:p>
            <a:r>
              <a:rPr sz="1800" b="0"/>
              <a:t>4. Operational efficiency — reduce CAC by 15% via PLG motion</a:t>
            </a:r>
          </a:p>
          <a:p>
            <a:r>
              <a:rPr sz="1800" b="0"/>
              <a:t>5. Strategic M&amp;A — evaluate 2-3 bolt-on acquisitions in BI/analytics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