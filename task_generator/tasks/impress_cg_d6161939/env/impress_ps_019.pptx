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Annual Review 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Meridian Technologies Inc.</a:t>
            </a:r>
          </a:p>
          <a:p>
            <a:r>
              <a:t>Board of Directors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Financial Performance Overview</a:t>
            </a:r>
          </a:p>
          <a:p>
            <a:pPr/>
            <a:r>
              <a:t>Product &amp; Engineering Milestones</a:t>
            </a:r>
          </a:p>
          <a:p>
            <a:pPr/>
            <a:r>
              <a:t>Customer Growth &amp; Retention Metrics</a:t>
            </a:r>
          </a:p>
          <a:p>
            <a:pPr/>
            <a:r>
              <a:t>Talent &amp; Organizational Highlights</a:t>
            </a:r>
          </a:p>
          <a:p>
            <a:pPr/>
            <a:r>
              <a:t>Market Landscape Analysis</a:t>
            </a:r>
          </a:p>
          <a:p>
            <a:pPr/>
            <a:r>
              <a:t>Risk Assessment &amp; Compliance Update</a:t>
            </a:r>
          </a:p>
          <a:p>
            <a:pPr/>
            <a:r>
              <a:t>2026 Strategic Roadmap</a:t>
            </a:r>
          </a:p>
          <a:p>
            <a:pPr/>
            <a:r>
              <a:t>Capital Allocation &amp; Budget Proposal</a:t>
            </a:r>
          </a:p>
          <a:p>
            <a:pPr/>
            <a:r>
              <a:t>Key Decisions for Board Approval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Performance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Annual revenue reached $187.3M, up 34% year-over-year</a:t>
            </a:r>
          </a:p>
          <a:p>
            <a:pPr/>
            <a:r>
              <a:t>Gross margin improved to 72.1% from 68.4% in 2024</a:t>
            </a:r>
          </a:p>
          <a:p>
            <a:pPr/>
            <a:r>
              <a:t>Operating expenses held at 54% of revenue (down from 61%)</a:t>
            </a:r>
          </a:p>
          <a:p>
            <a:pPr/>
            <a:r>
              <a:t>Free cash flow positive for first time: $12.8M</a:t>
            </a:r>
          </a:p>
          <a:p>
            <a:pPr/>
            <a:r>
              <a:t>ARR crossed $200M run-rate in Q4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&amp; Engineering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Shipped v4.0 platform with real-time collaboration engine</a:t>
            </a:r>
          </a:p>
          <a:p>
            <a:pPr/>
            <a:r>
              <a:t>Launched analytics dashboard with 15+ custom report templates</a:t>
            </a:r>
          </a:p>
          <a:p>
            <a:pPr/>
            <a:r>
              <a:t>Reduced average API latency from 340ms to 89ms</a:t>
            </a:r>
          </a:p>
          <a:p>
            <a:pPr/>
            <a:r>
              <a:t>99.97% uptime achieved across all production services</a:t>
            </a:r>
          </a:p>
          <a:p>
            <a:pPr/>
            <a:r>
              <a:t>Filed 8 patents in ML-driven workflow automation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Growth &amp; Retention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customers grew to 2,847 (up from 1,920)</a:t>
            </a:r>
          </a:p>
          <a:p>
            <a:pPr/>
            <a:r>
              <a:t>Net revenue retention rate: 118%</a:t>
            </a:r>
          </a:p>
          <a:p>
            <a:pPr/>
            <a:r>
              <a:t>Enterprise segment (&gt;$100K ARR): 194 accounts, +62% YoY</a:t>
            </a:r>
          </a:p>
          <a:p>
            <a:pPr/>
            <a:r>
              <a:t>NPS score improved to 67 (industry avg: 41)</a:t>
            </a:r>
          </a:p>
          <a:p>
            <a:pPr/>
            <a:r>
              <a:t>Churn reduced to 4.2% annually (from 7.1%)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Talent &amp; Organizational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Headcount grew to 412 employees across 6 offices</a:t>
            </a:r>
          </a:p>
          <a:p>
            <a:pPr/>
            <a:r>
              <a:t>Engineering team expanded to 178 (43% of company)</a:t>
            </a:r>
          </a:p>
          <a:p>
            <a:pPr/>
            <a:r>
              <a:t>Employee satisfaction score: 4.3/5.0 (Gallup Q12)</a:t>
            </a:r>
          </a:p>
          <a:p>
            <a:pPr/>
            <a:r>
              <a:t>Voluntary attrition dropped to 8.7% (industry avg: 15%)</a:t>
            </a:r>
          </a:p>
          <a:p>
            <a:pPr/>
            <a:r>
              <a:t>Opened Singapore office to support APAC expansion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Landscape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addressable market estimated at $14.2B by 2027</a:t>
            </a:r>
          </a:p>
          <a:p>
            <a:pPr/>
            <a:r>
              <a:t>Three new competitors entered mid-market segment in 2025</a:t>
            </a:r>
          </a:p>
          <a:p>
            <a:pPr/>
            <a:r>
              <a:t>Regulatory tailwinds: EU Digital Services Act driving adoption</a:t>
            </a:r>
          </a:p>
          <a:p>
            <a:pPr/>
            <a:r>
              <a:t>AI copilot integrations becoming table stakes in our category</a:t>
            </a:r>
          </a:p>
          <a:p>
            <a:pPr/>
            <a:r>
              <a:t>Partnership pipeline: 12 channel partners signed in H2 2025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Assessment &amp; Compliance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SOC 2 Type II certification renewed (zero findings)</a:t>
            </a:r>
          </a:p>
          <a:p>
            <a:pPr/>
            <a:r>
              <a:t>GDPR data processing audit completed successfully</a:t>
            </a:r>
          </a:p>
          <a:p>
            <a:pPr/>
            <a:r>
              <a:t>Cyber insurance coverage increased to $25M</a:t>
            </a:r>
          </a:p>
          <a:p>
            <a:pPr/>
            <a:r>
              <a:t>Supply chain risk: AWS dependency mitigated with multi-cloud strategy</a:t>
            </a:r>
          </a:p>
          <a:p>
            <a:pPr/>
            <a:r>
              <a:t>Key person risk: succession plans documented for C-suite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F3964"/>
                </a:solidFill>
              </a:rPr>
              <a:t>2026 Strategic Roadmap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Capital Allocation &amp; Budget Proposal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Proposed 2026 operating budget: $142M (+18% over 2025)</a:t>
            </a:r>
          </a:p>
          <a:p>
            <a:pPr/>
            <a:r>
              <a:t>R&amp;D investment: $58M (41% of budget) for platform and AI</a:t>
            </a:r>
          </a:p>
          <a:p>
            <a:pPr/>
            <a:r>
              <a:t>Sales &amp; marketing: $47M to support enterprise push</a:t>
            </a:r>
          </a:p>
          <a:p>
            <a:pPr/>
            <a:r>
              <a:t>G&amp;A efficiency target: reduce to 12% of revenue</a:t>
            </a:r>
          </a:p>
          <a:p>
            <a:pPr/>
            <a:r>
              <a:t>Capital reserve: maintain $30M minimum cash position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Decisions for Board Approval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Approve 2026 operating budget of $142M</a:t>
            </a:r>
          </a:p>
          <a:p>
            <a:pPr/>
            <a:r>
              <a:t>Authorize Series D bridge financing ($40M convertible note)</a:t>
            </a:r>
          </a:p>
          <a:p>
            <a:pPr/>
            <a:r>
              <a:t>Greenlight APAC expansion with Singapore hub investment</a:t>
            </a:r>
          </a:p>
          <a:p>
            <a:pPr/>
            <a:r>
              <a:t>Approve executive equity refresh pool (2.5% of diluted shares)</a:t>
            </a:r>
          </a:p>
          <a:p>
            <a:pPr/>
            <a:r>
              <a:t>Ratify updated data governance and AI ethics policy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 &amp; Discussion</a:t>
            </a:r>
          </a:p>
          <a:p>
            <a:r>
              <a:t>confidential@meridiantech.com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