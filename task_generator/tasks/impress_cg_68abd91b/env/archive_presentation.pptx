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Annual Sustainability Report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8FCE00"/>
                </a:solidFill>
              </a:rPr>
              <a:t>Greenfield Energy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BB"/>
                </a:solidFill>
              </a:rPr>
              <a:t>Prepared by: Environmental Compliance Division | March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4A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/>
              <a:t>In fiscal year 2025, Greenfield Energy Corporation achieved a 23% reduction in carbon emissions compared to the 2020 baseline. Our renewable energy portfolio expanded to cover 67% of total generation capacity, exceeding the 60% target set in our 2022 strategic plan. Water consumption per megawatt-hour decreased by 15%, and our community investment programs reached over 12,000 households across 8 states.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4A"/>
                </a:solidFill>
              </a:rPr>
              <a:t>Carbon Emissions Reduction 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Scope 1 (tCO2e)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Scope 2 (tCO2e)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Total (tCO2e)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2020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434,700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172,600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404,400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158,200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376,700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340,200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305,300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4A"/>
                </a:solidFill>
              </a:rPr>
              <a:t>Renewable Energy Portfolio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/>
              <a:t>Solar Photovoltaic:  2,340 MW  (34% of total capacity)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/>
              <a:t>Onshore Wind:  1,870 MW  (27% of total capacity)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/>
              <a:t>Offshore Wind:  420 MW  (6% of total capacity)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/>
              <a:t>Hydroelectric:  890 MW  (13% of total capacity)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/>
              <a:t>Battery Storage:  560 MWh  (Supporting grid stability)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4A"/>
                </a:solidFill>
              </a:rPr>
              <a:t>Water Stewardship &amp; Conservation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/>
              <a:t>Our water management strategy focuses on three pillars:</a:t>
            </a:r>
            <a:br/>
            <a:br/>
            <a:r>
              <a:t>1. Closed-loop cooling systems reduced freshwater withdrawal by 18% at our thermal generation facilities in Texas and Nevada.</a:t>
            </a:r>
            <a:br/>
            <a:br/>
            <a:r>
              <a:t>2. Wastewater treatment upgrades at 5 facilities now return 92% of process water to operational use, up from 78% in 2023.</a:t>
            </a:r>
            <a:br/>
            <a:br/>
            <a:r>
              <a:t>3. Watershed protection partnerships with local conservation districts cover over 15,000 acres of critical riparian habitat.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2026 Targets &amp;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CE00"/>
                </a:solidFill>
              </a:rPr>
              <a:t>  Achieve 75% renewable generation capacity by Q4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CE00"/>
                </a:solidFill>
              </a:rPr>
              <a:t>  Reduce Scope 1+2 emissions by 30% vs 2020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CE00"/>
                </a:solidFill>
              </a:rPr>
              <a:t>  Zero liquid discharge at all facilities by end of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26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CE00"/>
                </a:solidFill>
              </a:rPr>
              <a:t>  Launch $50M community green infrastructure 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CE00"/>
                </a:solidFill>
              </a:rPr>
              <a:t>  Publish first TCFD-aligned climate risk disclosure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