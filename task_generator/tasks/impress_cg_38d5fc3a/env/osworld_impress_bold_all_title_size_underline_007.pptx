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 u="none">
                <a:solidFill>
                  <a:srgbClr val="1F3564"/>
                </a:solidFill>
              </a:rPr>
              <a:t>Annual Research Symposium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u="none">
                <a:solidFill>
                  <a:srgbClr val="444757"/>
                </a:solidFill>
              </a:rPr>
              <a:t>Advancing Knowledge at the Frontier of Science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u="none">
                <a:solidFill>
                  <a:srgbClr val="777777"/>
                </a:solidFill>
              </a:rPr>
              <a:t>October 14–16, 2025  |  Grand Conference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5120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u="none">
                <a:solidFill>
                  <a:srgbClr val="999999"/>
                </a:solidFill>
              </a:rPr>
              <a:t>Organized by the Institute for Advanced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 u="none">
                <a:solidFill>
                  <a:srgbClr val="1F3564"/>
                </a:solidFill>
              </a:rPr>
              <a:t>Welcome &amp;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333"/>
                </a:solidFill>
              </a:rPr>
              <a:t>The Annual Research Symposium brings together scholars from 47 institutions.</a:t>
            </a:r>
          </a:p>
          <a:p>
            <a:r>
              <a:rPr sz="1800" b="0" i="0">
                <a:solidFill>
                  <a:srgbClr val="333333"/>
                </a:solidFill>
              </a:rPr>
              <a:t/>
            </a:r>
          </a:p>
          <a:p>
            <a:r>
              <a:rPr sz="1800" b="0" i="0">
                <a:solidFill>
                  <a:srgbClr val="333333"/>
                </a:solidFill>
              </a:rPr>
              <a:t>This year's theme: Interdisciplinary Innovation</a:t>
            </a:r>
          </a:p>
          <a:p>
            <a:r>
              <a:rPr sz="1800" b="0" i="0">
                <a:solidFill>
                  <a:srgbClr val="333333"/>
                </a:solidFill>
              </a:rPr>
              <a:t/>
            </a:r>
          </a:p>
          <a:p>
            <a:r>
              <a:rPr sz="1800" b="0" i="0">
                <a:solidFill>
                  <a:srgbClr val="333333"/>
                </a:solidFill>
              </a:rPr>
              <a:t>Keynote speakers include Dr. Amara Nwosu (MIT), Prof. Li Wei (Stanford),</a:t>
            </a:r>
          </a:p>
          <a:p>
            <a:r>
              <a:rPr sz="1800" b="0" i="0">
                <a:solidFill>
                  <a:srgbClr val="333333"/>
                </a:solidFill>
              </a:rPr>
              <a:t>and Dr. Fatima Al-Rashid (Oxford).</a:t>
            </a:r>
          </a:p>
          <a:p>
            <a:r>
              <a:rPr sz="1800" b="0" i="0">
                <a:solidFill>
                  <a:srgbClr val="333333"/>
                </a:solidFill>
              </a:rPr>
              <a:t/>
            </a:r>
          </a:p>
          <a:p>
            <a:r>
              <a:rPr sz="1800" b="0" i="0">
                <a:solidFill>
                  <a:srgbClr val="333333"/>
                </a:solidFill>
              </a:rPr>
              <a:t>120 paper presentations across 6 parallel tracks over three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 u="none">
                <a:solidFill>
                  <a:srgbClr val="1F3564"/>
                </a:solidFill>
              </a:rPr>
              <a:t>Keynote Session: AI &amp;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33333"/>
                </a:solidFill>
              </a:rPr>
              <a:t>Speaker: Dr. Amara Nwosu — "The Ethics of Autonomous Systems"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Abstract:</a:t>
            </a:r>
          </a:p>
          <a:p>
            <a:r>
              <a:rPr sz="1700" b="0" i="0">
                <a:solidFill>
                  <a:srgbClr val="333333"/>
                </a:solidFill>
              </a:rPr>
              <a:t>Artificial intelligence is reshaping labor markets, decision-making in</a:t>
            </a:r>
          </a:p>
          <a:p>
            <a:r>
              <a:rPr sz="1700" b="0" i="0">
                <a:solidFill>
                  <a:srgbClr val="333333"/>
                </a:solidFill>
              </a:rPr>
              <a:t>healthcare, and democratic processes. This talk examines the societal</a:t>
            </a:r>
          </a:p>
          <a:p>
            <a:r>
              <a:rPr sz="1700" b="0" i="0">
                <a:solidFill>
                  <a:srgbClr val="333333"/>
                </a:solidFill>
              </a:rPr>
              <a:t>implications and proposes a governance framework for responsible AI.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Monday, October 14  |  09:00 – 10:30  |  Main Auditorium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F3564"/>
                </a:solidFill>
              </a:rPr>
              <a:t>Research Track A: Computational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33333"/>
                </a:solidFill>
              </a:rPr>
              <a:t>Selected papers in Track A: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1. Genome-wide Association Studies Using Deep Learning — Dr. Kenji Tanaka</a:t>
            </a:r>
          </a:p>
          <a:p>
            <a:r>
              <a:rPr sz="1700" b="0" i="0">
                <a:solidFill>
                  <a:srgbClr val="333333"/>
                </a:solidFill>
              </a:rPr>
              <a:t>2. Protein Folding Prediction via Transformer Networks — Dr. Sofia Mendes</a:t>
            </a:r>
          </a:p>
          <a:p>
            <a:r>
              <a:rPr sz="1700" b="0" i="0">
                <a:solidFill>
                  <a:srgbClr val="333333"/>
                </a:solidFill>
              </a:rPr>
              <a:t>3. Single-cell RNA Sequencing: New Statistical Models — Prof. Marcus Bell</a:t>
            </a:r>
          </a:p>
          <a:p>
            <a:r>
              <a:rPr sz="1700" b="0" i="0">
                <a:solidFill>
                  <a:srgbClr val="333333"/>
                </a:solidFill>
              </a:rPr>
              <a:t>4. CRISPR Off-target Analysis with Bayesian Inference — Dr. Priya Sharma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Room 301  |  Tuesday 11:00–13:00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u="none">
                <a:solidFill>
                  <a:srgbClr val="1F3564"/>
                </a:solidFill>
              </a:rPr>
              <a:t>Research Track B: Climate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33333"/>
                </a:solidFill>
              </a:rPr>
              <a:t>Selected papers in Track B: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1. Carbon Capture Efficiency in Urban Forests — Dr. Elena Vasquez</a:t>
            </a:r>
          </a:p>
          <a:p>
            <a:r>
              <a:rPr sz="1700" b="0" i="0">
                <a:solidFill>
                  <a:srgbClr val="333333"/>
                </a:solidFill>
              </a:rPr>
              <a:t>2. Ocean Acidification Modeling: 2025 Projections — Prof. James Osei</a:t>
            </a:r>
          </a:p>
          <a:p>
            <a:r>
              <a:rPr sz="1700" b="0" i="0">
                <a:solidFill>
                  <a:srgbClr val="333333"/>
                </a:solidFill>
              </a:rPr>
              <a:t>3. Renewable Energy Grid Optimization via ML — Dr. Hana Kovac</a:t>
            </a:r>
          </a:p>
          <a:p>
            <a:r>
              <a:rPr sz="1700" b="0" i="0">
                <a:solidFill>
                  <a:srgbClr val="333333"/>
                </a:solidFill>
              </a:rPr>
              <a:t>4. Methane Emission Tracking Using Satellite Data — Dr. Ravi Patel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Room 204  |  Tuesday 14:00–16:00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 u="none">
                <a:solidFill>
                  <a:srgbClr val="1F3564"/>
                </a:solidFill>
              </a:rPr>
              <a:t>Panel Discussion: Open Science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33333"/>
                </a:solidFill>
              </a:rPr>
              <a:t>Moderator: Prof. Li Wei (Stanford University)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Panelists:</a:t>
            </a:r>
          </a:p>
          <a:p>
            <a:r>
              <a:rPr sz="1700" b="0" i="0">
                <a:solidFill>
                  <a:srgbClr val="333333"/>
                </a:solidFill>
              </a:rPr>
              <a:t>  - Dr. Alice Thornton — Open access publishing economics</a:t>
            </a:r>
          </a:p>
          <a:p>
            <a:r>
              <a:rPr sz="1700" b="0" i="0">
                <a:solidFill>
                  <a:srgbClr val="333333"/>
                </a:solidFill>
              </a:rPr>
              <a:t>  - Dr. Carlos Rivera — Data sharing mandates &amp; reproducibility</a:t>
            </a:r>
          </a:p>
          <a:p>
            <a:r>
              <a:rPr sz="1700" b="0" i="0">
                <a:solidFill>
                  <a:srgbClr val="333333"/>
                </a:solidFill>
              </a:rPr>
              <a:t>  - Dr. Yuki Yamamoto — Preprint culture and peer review reform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Wednesday, October 16  |  10:00–11:30  |  Ballroom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 u="none">
                <a:solidFill>
                  <a:srgbClr val="1F3564"/>
                </a:solidFill>
              </a:rPr>
              <a:t>Poster Session &amp;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33333"/>
                </a:solidFill>
              </a:rPr>
              <a:t>Evening Poster Session — Monday &amp; Tuesday, 17:00–19:00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Over 200 poster presentations across 8 thematic areas:</a:t>
            </a:r>
          </a:p>
          <a:p>
            <a:r>
              <a:rPr sz="1700" b="0" i="0">
                <a:solidFill>
                  <a:srgbClr val="333333"/>
                </a:solidFill>
              </a:rPr>
              <a:t>  Neuroscience  |  Quantum Computing  |  Materials Science</a:t>
            </a:r>
          </a:p>
          <a:p>
            <a:r>
              <a:rPr sz="1700" b="0" i="0">
                <a:solidFill>
                  <a:srgbClr val="333333"/>
                </a:solidFill>
              </a:rPr>
              <a:t>  Economics  |  Linguistics  |  Public Health</a:t>
            </a:r>
          </a:p>
          <a:p>
            <a:r>
              <a:rPr sz="1700" b="0" i="0">
                <a:solidFill>
                  <a:srgbClr val="333333"/>
                </a:solidFill>
              </a:rPr>
              <a:t>  Environmental Policy  |  Human-Computer Interaction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Best Poster Awards presented Wednesday morning.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 u="none">
                <a:solidFill>
                  <a:srgbClr val="1F3564"/>
                </a:solidFill>
              </a:rPr>
              <a:t>Closing Remarks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33333"/>
                </a:solidFill>
              </a:rPr>
              <a:t>Summary of symposium outcomes and key findings.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Proceedings will be published in the Journal of Interdisciplinary Research</a:t>
            </a:r>
          </a:p>
          <a:p>
            <a:r>
              <a:rPr sz="1700" b="0" i="0">
                <a:solidFill>
                  <a:srgbClr val="333333"/>
                </a:solidFill>
              </a:rPr>
              <a:t>— expected submission deadline: December 31, 2025.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Next symposium: October 2026 — Call for Papers opens January 2026.</a:t>
            </a:r>
          </a:p>
          <a:p>
            <a:r>
              <a:rPr sz="1700" b="0" i="0">
                <a:solidFill>
                  <a:srgbClr val="333333"/>
                </a:solidFill>
              </a:rPr>
              <a:t/>
            </a:r>
          </a:p>
          <a:p>
            <a:r>
              <a:rPr sz="1700" b="0" i="0">
                <a:solidFill>
                  <a:srgbClr val="333333"/>
                </a:solidFill>
              </a:rPr>
              <a:t>Thank you to all participants, reviewers, and organizing committee members.</a:t>
            </a:r>
          </a:p>
          <a:p>
            <a:r>
              <a:rPr sz="1700" b="0" i="0">
                <a:solidFill>
                  <a:srgbClr val="333333"/>
                </a:solidFill>
              </a:rPr>
              <a:t>Safe travels and continued fruitful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